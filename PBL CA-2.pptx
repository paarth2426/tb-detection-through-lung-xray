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14JwwkOUfwN+ifXKvkkAy9NwA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C8210A-88AE-4881-A68B-345F127D8141}">
  <a:tblStyle styleId="{ACC8210A-88AE-4881-A68B-345F127D814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f8139f9b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f8139f9b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9f8139f9b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f8139f9bc_0_8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9f8139f9bc_0_8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9f8139f9bc_0_8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9f8139f9bc_0_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9f8139f9bc_0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9f8139f9bc_0_1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9f8139f9bc_0_8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9f8139f9bc_0_8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9f8139f9bc_0_8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9f8139f9bc_0_8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9f8139f9bc_0_8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39f8139f9bc_0_8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9f8139f9bc_0_8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39f8139f9bc_0_8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g39f8139f9bc_0_8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9f8139f9bc_0_8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9f8139f9bc_0_8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g39f8139f9bc_0_8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9f8139f9bc_0_8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39f8139f9bc_0_8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g39f8139f9bc_0_8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9f8139f9bc_0_8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39f8139f9bc_0_8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g39f8139f9bc_0_8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9f8139f9bc_0_8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39f8139f9bc_0_8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g39f8139f9bc_0_8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39f8c020aa3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g39f8c020aa3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9258300" y="64452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3182" y="2731736"/>
            <a:ext cx="12192000" cy="70800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Tuberculosis Detection in Lung Xrays using CNN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798011" y="5632528"/>
            <a:ext cx="65798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Symbiosis Institute of Technology, Nagpur Campus</a:t>
            </a:r>
            <a:endParaRPr b="1" i="0" sz="18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133105" y="1565205"/>
            <a:ext cx="985356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PBL Presentation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2914170" y="3693029"/>
            <a:ext cx="6390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Paarth Maheshwari, J Sharadvardhan Acharya, Mohd. Zaid Shaikh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PBL Group No: 106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Sem: III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Dr./Prof. </a:t>
            </a:r>
            <a:r>
              <a:rPr lang="en-US" sz="20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Pradnya</a:t>
            </a:r>
            <a:r>
              <a:rPr b="0" i="0" lang="en-US" sz="20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Borkar</a:t>
            </a:r>
            <a:endParaRPr/>
          </a:p>
        </p:txBody>
      </p:sp>
      <p:grpSp>
        <p:nvGrpSpPr>
          <p:cNvPr id="92" name="Google Shape;92;p1"/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</p:grpSpPr>
        <p:sp>
          <p:nvSpPr>
            <p:cNvPr id="93" name="Google Shape;93;p1"/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4" name="Google Shape;94;p1"/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</p:grpSpPr>
          <p:sp>
            <p:nvSpPr>
              <p:cNvPr id="95" name="Google Shape;95;p1"/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30" name="Google Shape;130;p1"/>
          <p:cNvGrpSpPr/>
          <p:nvPr/>
        </p:nvGrpSpPr>
        <p:grpSpPr>
          <a:xfrm>
            <a:off x="450920" y="6490548"/>
            <a:ext cx="4247655" cy="273466"/>
            <a:chOff x="4366684" y="2926127"/>
            <a:chExt cx="3278335" cy="2571063"/>
          </a:xfrm>
        </p:grpSpPr>
        <p:sp>
          <p:nvSpPr>
            <p:cNvPr id="131" name="Google Shape;131;p1"/>
            <p:cNvSpPr/>
            <p:nvPr/>
          </p:nvSpPr>
          <p:spPr>
            <a:xfrm>
              <a:off x="4744501" y="2926994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4676621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5706626" y="2927282"/>
              <a:ext cx="109764" cy="2394576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5022376" y="2926994"/>
              <a:ext cx="75101" cy="2394576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4877829" y="2926994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4559765" y="2926994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4433987" y="2926705"/>
              <a:ext cx="37550" cy="2567886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4366684" y="2927282"/>
              <a:ext cx="37550" cy="2567886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5957386" y="2926705"/>
              <a:ext cx="37550" cy="2567886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6024689" y="2926127"/>
              <a:ext cx="37550" cy="2567886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5890084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6091991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139759" y="2926994"/>
              <a:ext cx="109764" cy="2394576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280788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7349773" y="2926994"/>
              <a:ext cx="109764" cy="2394576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7548511" y="2927282"/>
              <a:ext cx="41911" cy="2569908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7485249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7616134" y="2926994"/>
              <a:ext cx="28885" cy="2567886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6838507" y="2926994"/>
              <a:ext cx="109764" cy="2394576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6980994" y="2927282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065051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754449" y="2926127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334914" y="2927282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159871" y="2926127"/>
              <a:ext cx="37550" cy="2397464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231712" y="2926127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598401" y="2927282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680669" y="2927282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516134" y="2927282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399205" y="2927282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5237391" y="2926127"/>
              <a:ext cx="144425" cy="2394576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5123269" y="2926994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5611343" y="2927282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5407259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5470252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5533244" y="2926127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66" name="Google Shape;16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521" y="190223"/>
            <a:ext cx="6879350" cy="9997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1"/>
          <p:cNvGrpSpPr/>
          <p:nvPr/>
        </p:nvGrpSpPr>
        <p:grpSpPr>
          <a:xfrm>
            <a:off x="4815395" y="6382131"/>
            <a:ext cx="7369479" cy="465286"/>
            <a:chOff x="4817758" y="6382984"/>
            <a:chExt cx="7369479" cy="465286"/>
          </a:xfrm>
        </p:grpSpPr>
        <p:sp>
          <p:nvSpPr>
            <p:cNvPr id="168" name="Google Shape;168;p1"/>
            <p:cNvSpPr/>
            <p:nvPr/>
          </p:nvSpPr>
          <p:spPr>
            <a:xfrm>
              <a:off x="4817758" y="6382984"/>
              <a:ext cx="7369479" cy="46528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9" name="Google Shape;169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73655" y="6397831"/>
              <a:ext cx="7281503" cy="417465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sp>
        <p:nvSpPr>
          <p:cNvPr id="170" name="Google Shape;170;p1"/>
          <p:cNvSpPr txBox="1"/>
          <p:nvPr>
            <p:ph idx="12" type="sldNum"/>
          </p:nvPr>
        </p:nvSpPr>
        <p:spPr>
          <a:xfrm>
            <a:off x="9258300" y="64452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f8139f9bc_0_0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7" name="Google Shape;177;g39f8139f9bc_0_0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78" name="Google Shape;178;g39f8139f9bc_0_0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79" name="Google Shape;179;g39f8139f9bc_0_0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80" name="Google Shape;180;g39f8139f9bc_0_0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" name="Google Shape;181;g39f8139f9bc_0_0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" name="Google Shape;182;g39f8139f9bc_0_0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3" name="Google Shape;183;g39f8139f9bc_0_0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4" name="Google Shape;184;g39f8139f9bc_0_0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5" name="Google Shape;185;g39f8139f9bc_0_0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6" name="Google Shape;186;g39f8139f9bc_0_0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7" name="Google Shape;187;g39f8139f9bc_0_0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8" name="Google Shape;188;g39f8139f9bc_0_0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9" name="Google Shape;189;g39f8139f9bc_0_0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0" name="Google Shape;190;g39f8139f9bc_0_0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1" name="Google Shape;191;g39f8139f9bc_0_0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2" name="Google Shape;192;g39f8139f9bc_0_0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3" name="Google Shape;193;g39f8139f9bc_0_0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4" name="Google Shape;194;g39f8139f9bc_0_0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5" name="Google Shape;195;g39f8139f9bc_0_0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6" name="Google Shape;196;g39f8139f9bc_0_0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7" name="Google Shape;197;g39f8139f9bc_0_0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8" name="Google Shape;198;g39f8139f9bc_0_0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9" name="Google Shape;199;g39f8139f9bc_0_0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0" name="Google Shape;200;g39f8139f9bc_0_0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1" name="Google Shape;201;g39f8139f9bc_0_0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2" name="Google Shape;202;g39f8139f9bc_0_0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3" name="Google Shape;203;g39f8139f9bc_0_0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" name="Google Shape;204;g39f8139f9bc_0_0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5" name="Google Shape;205;g39f8139f9bc_0_0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" name="Google Shape;206;g39f8139f9bc_0_0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" name="Google Shape;207;g39f8139f9bc_0_0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8" name="Google Shape;208;g39f8139f9bc_0_0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9" name="Google Shape;209;g39f8139f9bc_0_0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" name="Google Shape;210;g39f8139f9bc_0_0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1" name="Google Shape;211;g39f8139f9bc_0_0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2" name="Google Shape;212;g39f8139f9bc_0_0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" name="Google Shape;213;g39f8139f9bc_0_0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4" name="Google Shape;214;g39f8139f9bc_0_0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15" name="Google Shape;215;g39f8139f9bc_0_0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216" name="Google Shape;216;g39f8139f9bc_0_0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g39f8139f9bc_0_0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" name="Google Shape;218;g39f8139f9bc_0_0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" name="Google Shape;219;g39f8139f9bc_0_0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" name="Google Shape;220;g39f8139f9bc_0_0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" name="Google Shape;221;g39f8139f9bc_0_0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" name="Google Shape;222;g39f8139f9bc_0_0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" name="Google Shape;223;g39f8139f9bc_0_0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" name="Google Shape;224;g39f8139f9bc_0_0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" name="Google Shape;225;g39f8139f9bc_0_0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g39f8139f9bc_0_0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g39f8139f9bc_0_0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" name="Google Shape;228;g39f8139f9bc_0_0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g39f8139f9bc_0_0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g39f8139f9bc_0_0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g39f8139f9bc_0_0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g39f8139f9bc_0_0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g39f8139f9bc_0_0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g39f8139f9bc_0_0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" name="Google Shape;235;g39f8139f9bc_0_0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" name="Google Shape;236;g39f8139f9bc_0_0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g39f8139f9bc_0_0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g39f8139f9bc_0_0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" name="Google Shape;239;g39f8139f9bc_0_0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" name="Google Shape;240;g39f8139f9bc_0_0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" name="Google Shape;241;g39f8139f9bc_0_0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" name="Google Shape;242;g39f8139f9bc_0_0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" name="Google Shape;243;g39f8139f9bc_0_0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" name="Google Shape;244;g39f8139f9bc_0_0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" name="Google Shape;245;g39f8139f9bc_0_0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" name="Google Shape;246;g39f8139f9bc_0_0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" name="Google Shape;247;g39f8139f9bc_0_0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" name="Google Shape;248;g39f8139f9bc_0_0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" name="Google Shape;249;g39f8139f9bc_0_0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0" name="Google Shape;250;g39f8139f9bc_0_0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51" name="Google Shape;251;g39f8139f9bc_0_0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Problem Statement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2" name="Google Shape;252;g39f8139f9b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9f8139f9bc_0_0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" name="Google Shape;254;g39f8139f9bc_0_0"/>
          <p:cNvSpPr txBox="1"/>
          <p:nvPr/>
        </p:nvSpPr>
        <p:spPr>
          <a:xfrm>
            <a:off x="1824625" y="1332600"/>
            <a:ext cx="8551200" cy="4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Global Health Crisis: Tuberculosis (TB) remains a leading cause of death worldwide, especially in resource-limited regions.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Diagnostic Gap: A critical shortage of skilled radiologists in high-burden areas leads to delayed diagnosis and increased transmission.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Inefficiency &amp; Cost: Traditional diagnostic methods can be slow, expensive, and require sophisticated lab infrastructure, making widespread screening challenging.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Need: There is an urgent need for an accurate, rapid, low-cost, and automated screening tool to assist healthcare workers in early TB detection and improve public health outcomes.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f8139f9bc_0_847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g39f8139f9bc_0_847"/>
          <p:cNvSpPr txBox="1"/>
          <p:nvPr>
            <p:ph idx="12" type="sldNum"/>
          </p:nvPr>
        </p:nvSpPr>
        <p:spPr>
          <a:xfrm>
            <a:off x="9258300" y="6433302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62" name="Google Shape;262;g39f8139f9bc_0_847"/>
          <p:cNvGrpSpPr/>
          <p:nvPr/>
        </p:nvGrpSpPr>
        <p:grpSpPr>
          <a:xfrm>
            <a:off x="4232" y="6371036"/>
            <a:ext cx="12192000" cy="476400"/>
            <a:chOff x="0" y="6381750"/>
            <a:chExt cx="12192000" cy="476400"/>
          </a:xfrm>
        </p:grpSpPr>
        <p:sp>
          <p:nvSpPr>
            <p:cNvPr id="263" name="Google Shape;263;g39f8139f9bc_0_847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64" name="Google Shape;264;g39f8139f9bc_0_847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265" name="Google Shape;265;g39f8139f9bc_0_847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6" name="Google Shape;266;g39f8139f9bc_0_847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7" name="Google Shape;267;g39f8139f9bc_0_847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8" name="Google Shape;268;g39f8139f9bc_0_847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9" name="Google Shape;269;g39f8139f9bc_0_847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0" name="Google Shape;270;g39f8139f9bc_0_847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1" name="Google Shape;271;g39f8139f9bc_0_847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2" name="Google Shape;272;g39f8139f9bc_0_847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3" name="Google Shape;273;g39f8139f9bc_0_847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4" name="Google Shape;274;g39f8139f9bc_0_847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5" name="Google Shape;275;g39f8139f9bc_0_847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6" name="Google Shape;276;g39f8139f9bc_0_847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7" name="Google Shape;277;g39f8139f9bc_0_847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8" name="Google Shape;278;g39f8139f9bc_0_847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9" name="Google Shape;279;g39f8139f9bc_0_847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0" name="Google Shape;280;g39f8139f9bc_0_847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1" name="Google Shape;281;g39f8139f9bc_0_847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2" name="Google Shape;282;g39f8139f9bc_0_847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3" name="Google Shape;283;g39f8139f9bc_0_847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4" name="Google Shape;284;g39f8139f9bc_0_847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5" name="Google Shape;285;g39f8139f9bc_0_847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6" name="Google Shape;286;g39f8139f9bc_0_847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7" name="Google Shape;287;g39f8139f9bc_0_847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8" name="Google Shape;288;g39f8139f9bc_0_847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9" name="Google Shape;289;g39f8139f9bc_0_847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0" name="Google Shape;290;g39f8139f9bc_0_847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1" name="Google Shape;291;g39f8139f9bc_0_847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2" name="Google Shape;292;g39f8139f9bc_0_847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3" name="Google Shape;293;g39f8139f9bc_0_847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4" name="Google Shape;294;g39f8139f9bc_0_847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5" name="Google Shape;295;g39f8139f9bc_0_847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6" name="Google Shape;296;g39f8139f9bc_0_847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7" name="Google Shape;297;g39f8139f9bc_0_847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8" name="Google Shape;298;g39f8139f9bc_0_847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9" name="Google Shape;299;g39f8139f9bc_0_847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00" name="Google Shape;300;g39f8139f9bc_0_847"/>
          <p:cNvGrpSpPr/>
          <p:nvPr/>
        </p:nvGrpSpPr>
        <p:grpSpPr>
          <a:xfrm>
            <a:off x="166359" y="6478709"/>
            <a:ext cx="4247753" cy="273665"/>
            <a:chOff x="4366684" y="2926127"/>
            <a:chExt cx="3278346" cy="2572038"/>
          </a:xfrm>
        </p:grpSpPr>
        <p:sp>
          <p:nvSpPr>
            <p:cNvPr id="301" name="Google Shape;301;g39f8139f9bc_0_847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2" name="Google Shape;302;g39f8139f9bc_0_847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3" name="Google Shape;303;g39f8139f9bc_0_847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4" name="Google Shape;304;g39f8139f9bc_0_847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5" name="Google Shape;305;g39f8139f9bc_0_847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6" name="Google Shape;306;g39f8139f9bc_0_847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7" name="Google Shape;307;g39f8139f9bc_0_847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8" name="Google Shape;308;g39f8139f9bc_0_847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9" name="Google Shape;309;g39f8139f9bc_0_847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0" name="Google Shape;310;g39f8139f9bc_0_847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1" name="Google Shape;311;g39f8139f9bc_0_847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2" name="Google Shape;312;g39f8139f9bc_0_847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3" name="Google Shape;313;g39f8139f9bc_0_847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4" name="Google Shape;314;g39f8139f9bc_0_847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5" name="Google Shape;315;g39f8139f9bc_0_847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6" name="Google Shape;316;g39f8139f9bc_0_847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7" name="Google Shape;317;g39f8139f9bc_0_847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8" name="Google Shape;318;g39f8139f9bc_0_847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9" name="Google Shape;319;g39f8139f9bc_0_847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0" name="Google Shape;320;g39f8139f9bc_0_847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1" name="Google Shape;321;g39f8139f9bc_0_847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" name="Google Shape;322;g39f8139f9bc_0_847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" name="Google Shape;323;g39f8139f9bc_0_847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4" name="Google Shape;324;g39f8139f9bc_0_847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5" name="Google Shape;325;g39f8139f9bc_0_847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6" name="Google Shape;326;g39f8139f9bc_0_847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" name="Google Shape;327;g39f8139f9bc_0_847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" name="Google Shape;328;g39f8139f9bc_0_847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" name="Google Shape;329;g39f8139f9bc_0_847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" name="Google Shape;330;g39f8139f9bc_0_847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" name="Google Shape;331;g39f8139f9bc_0_847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" name="Google Shape;332;g39f8139f9bc_0_847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" name="Google Shape;333;g39f8139f9bc_0_847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" name="Google Shape;334;g39f8139f9bc_0_847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" name="Google Shape;335;g39f8139f9bc_0_847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36" name="Google Shape;336;g39f8139f9bc_0_847"/>
          <p:cNvSpPr/>
          <p:nvPr/>
        </p:nvSpPr>
        <p:spPr>
          <a:xfrm>
            <a:off x="0" y="-12647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7" name="Google Shape;337;g39f8139f9bc_0_8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22993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39f8139f9bc_0_847"/>
          <p:cNvSpPr txBox="1"/>
          <p:nvPr>
            <p:ph idx="12" type="sldNum"/>
          </p:nvPr>
        </p:nvSpPr>
        <p:spPr>
          <a:xfrm>
            <a:off x="9258300" y="643330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g39f8139f9bc_0_847"/>
          <p:cNvSpPr txBox="1"/>
          <p:nvPr/>
        </p:nvSpPr>
        <p:spPr>
          <a:xfrm>
            <a:off x="1085425" y="1058025"/>
            <a:ext cx="10029600" cy="48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Goswami et al. (2023) – </a:t>
            </a:r>
            <a:r>
              <a:rPr i="1"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Deep Learning Classification of Tuberculosis Chest X-rays (Cureus)</a:t>
            </a: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Used a custom CNN for automated TB detection from chest X-rays.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Acharya et al. (2022) – </a:t>
            </a:r>
            <a:r>
              <a:rPr i="1"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AI-Assisted Tuberculosis Detection using Normalization-Free Network (Comput. Intell. Neurosci.)</a:t>
            </a: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Introduced a normalization-free deep network for TB and lung disease classification.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Nafisah &amp; Muhammad (2022) – </a:t>
            </a:r>
            <a:r>
              <a:rPr i="1"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Tuberculosis Detection using CNN and Explainable AI (Neural Comput. Appl.)</a:t>
            </a: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Combined CNN with lung segmentation and explainable AI for interpretable TB detection.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Capellán-Martín et al. (2023) – </a:t>
            </a:r>
            <a:r>
              <a:rPr i="1"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LightTBNet: Lightweight CNN for Chest X-Ray TB Detection (arXiv)</a:t>
            </a: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Developed a lightweight CNN (LightTBNet) optimized for deployment in low-resource settings.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Acharya et al. (2022) – </a:t>
            </a:r>
            <a:r>
              <a:rPr i="1"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Transfer Learning-Based CNNs for TB Detection</a:t>
            </a: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Applied transfer learning using pretrained CNNs such as ResNet50 and VGG16 for TB classification.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El-Ghany et al. (2025) – </a:t>
            </a:r>
            <a:r>
              <a:rPr i="1"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Hybrid CNN–ViT Model for TB Diagnosis (Diagnostics)</a:t>
            </a: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Proposed a hybrid model combining CNN and Vision Transformer for TB and pneumonia classification.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9f8139f9bc_0_115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46" name="Google Shape;346;g39f8139f9bc_0_115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347" name="Google Shape;347;g39f8139f9bc_0_115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48" name="Google Shape;348;g39f8139f9bc_0_115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349" name="Google Shape;349;g39f8139f9bc_0_115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0" name="Google Shape;350;g39f8139f9bc_0_115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1" name="Google Shape;351;g39f8139f9bc_0_115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2" name="Google Shape;352;g39f8139f9bc_0_115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3" name="Google Shape;353;g39f8139f9bc_0_115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4" name="Google Shape;354;g39f8139f9bc_0_115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5" name="Google Shape;355;g39f8139f9bc_0_115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6" name="Google Shape;356;g39f8139f9bc_0_115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7" name="Google Shape;357;g39f8139f9bc_0_115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8" name="Google Shape;358;g39f8139f9bc_0_115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9" name="Google Shape;359;g39f8139f9bc_0_115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0" name="Google Shape;360;g39f8139f9bc_0_115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1" name="Google Shape;361;g39f8139f9bc_0_115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2" name="Google Shape;362;g39f8139f9bc_0_115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3" name="Google Shape;363;g39f8139f9bc_0_115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4" name="Google Shape;364;g39f8139f9bc_0_115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5" name="Google Shape;365;g39f8139f9bc_0_115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6" name="Google Shape;366;g39f8139f9bc_0_115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7" name="Google Shape;367;g39f8139f9bc_0_115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8" name="Google Shape;368;g39f8139f9bc_0_115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9" name="Google Shape;369;g39f8139f9bc_0_115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0" name="Google Shape;370;g39f8139f9bc_0_115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1" name="Google Shape;371;g39f8139f9bc_0_115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2" name="Google Shape;372;g39f8139f9bc_0_115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3" name="Google Shape;373;g39f8139f9bc_0_115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4" name="Google Shape;374;g39f8139f9bc_0_115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5" name="Google Shape;375;g39f8139f9bc_0_115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6" name="Google Shape;376;g39f8139f9bc_0_115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7" name="Google Shape;377;g39f8139f9bc_0_115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8" name="Google Shape;378;g39f8139f9bc_0_115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9" name="Google Shape;379;g39f8139f9bc_0_115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0" name="Google Shape;380;g39f8139f9bc_0_115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1" name="Google Shape;381;g39f8139f9bc_0_115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2" name="Google Shape;382;g39f8139f9bc_0_115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3" name="Google Shape;383;g39f8139f9bc_0_115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84" name="Google Shape;384;g39f8139f9bc_0_115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385" name="Google Shape;385;g39f8139f9bc_0_115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6" name="Google Shape;386;g39f8139f9bc_0_115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7" name="Google Shape;387;g39f8139f9bc_0_115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8" name="Google Shape;388;g39f8139f9bc_0_115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9" name="Google Shape;389;g39f8139f9bc_0_115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0" name="Google Shape;390;g39f8139f9bc_0_115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1" name="Google Shape;391;g39f8139f9bc_0_115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2" name="Google Shape;392;g39f8139f9bc_0_115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3" name="Google Shape;393;g39f8139f9bc_0_115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4" name="Google Shape;394;g39f8139f9bc_0_115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5" name="Google Shape;395;g39f8139f9bc_0_115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6" name="Google Shape;396;g39f8139f9bc_0_115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7" name="Google Shape;397;g39f8139f9bc_0_115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8" name="Google Shape;398;g39f8139f9bc_0_115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9" name="Google Shape;399;g39f8139f9bc_0_115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0" name="Google Shape;400;g39f8139f9bc_0_115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1" name="Google Shape;401;g39f8139f9bc_0_115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2" name="Google Shape;402;g39f8139f9bc_0_115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3" name="Google Shape;403;g39f8139f9bc_0_115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4" name="Google Shape;404;g39f8139f9bc_0_115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5" name="Google Shape;405;g39f8139f9bc_0_115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6" name="Google Shape;406;g39f8139f9bc_0_115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7" name="Google Shape;407;g39f8139f9bc_0_115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8" name="Google Shape;408;g39f8139f9bc_0_115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9" name="Google Shape;409;g39f8139f9bc_0_115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0" name="Google Shape;410;g39f8139f9bc_0_115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1" name="Google Shape;411;g39f8139f9bc_0_115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2" name="Google Shape;412;g39f8139f9bc_0_115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3" name="Google Shape;413;g39f8139f9bc_0_115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4" name="Google Shape;414;g39f8139f9bc_0_115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5" name="Google Shape;415;g39f8139f9bc_0_115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6" name="Google Shape;416;g39f8139f9bc_0_115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7" name="Google Shape;417;g39f8139f9bc_0_115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8" name="Google Shape;418;g39f8139f9bc_0_115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9" name="Google Shape;419;g39f8139f9bc_0_115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20" name="Google Shape;420;g39f8139f9bc_0_115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Research Initiatives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1" name="Google Shape;421;g39f8139f9bc_0_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9f8139f9bc_0_115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3" name="Google Shape;423;g39f8139f9bc_0_115"/>
          <p:cNvSpPr txBox="1"/>
          <p:nvPr/>
        </p:nvSpPr>
        <p:spPr>
          <a:xfrm>
            <a:off x="705075" y="2084800"/>
            <a:ext cx="4755300" cy="16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b="1"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Sputum Smear Microscopy:</a:t>
            </a:r>
            <a:endParaRPr b="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Low sensitivity (especially in HIV patients)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Requires laboratory infrastructure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Results take 24-48 hours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g39f8139f9bc_0_115"/>
          <p:cNvSpPr txBox="1"/>
          <p:nvPr/>
        </p:nvSpPr>
        <p:spPr>
          <a:xfrm>
            <a:off x="6344225" y="2102800"/>
            <a:ext cx="5304900" cy="16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b="1"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Culture-Based Tests:</a:t>
            </a:r>
            <a:endParaRPr b="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Gold standard but very slow (2-8 weeks)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Expensive and needs advanced lab facilities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Not suitable for rapid screening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g39f8139f9bc_0_115"/>
          <p:cNvSpPr txBox="1"/>
          <p:nvPr/>
        </p:nvSpPr>
        <p:spPr>
          <a:xfrm>
            <a:off x="705075" y="3997925"/>
            <a:ext cx="4647600" cy="15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b="1"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Molecular Tests (GeneXpert):</a:t>
            </a:r>
            <a:endParaRPr b="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High accuracy but costly per test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Requires stable electricity and maintenance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Limited accessibility in remote areas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g39f8139f9bc_0_115"/>
          <p:cNvSpPr txBox="1"/>
          <p:nvPr/>
        </p:nvSpPr>
        <p:spPr>
          <a:xfrm>
            <a:off x="6344225" y="3997925"/>
            <a:ext cx="4755300" cy="13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b="1"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Human Radiologist Interpretation:</a:t>
            </a:r>
            <a:endParaRPr b="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Subject to human error and variability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Scarce resource in developing regions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Inconsistent across different expertise levels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g39f8139f9bc_0_115"/>
          <p:cNvSpPr txBox="1"/>
          <p:nvPr/>
        </p:nvSpPr>
        <p:spPr>
          <a:xfrm>
            <a:off x="955825" y="1326200"/>
            <a:ext cx="450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Current Diagnostic Landscape &amp; Limitations</a:t>
            </a:r>
            <a:endParaRPr b="1"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9f8139f9bc_0_805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4" name="Google Shape;434;g39f8139f9bc_0_805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35" name="Google Shape;435;g39f8139f9bc_0_805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436" name="Google Shape;436;g39f8139f9bc_0_805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37" name="Google Shape;437;g39f8139f9bc_0_805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438" name="Google Shape;438;g39f8139f9bc_0_805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9" name="Google Shape;439;g39f8139f9bc_0_805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0" name="Google Shape;440;g39f8139f9bc_0_805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1" name="Google Shape;441;g39f8139f9bc_0_805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2" name="Google Shape;442;g39f8139f9bc_0_805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3" name="Google Shape;443;g39f8139f9bc_0_805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4" name="Google Shape;444;g39f8139f9bc_0_805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5" name="Google Shape;445;g39f8139f9bc_0_805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6" name="Google Shape;446;g39f8139f9bc_0_805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7" name="Google Shape;447;g39f8139f9bc_0_805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8" name="Google Shape;448;g39f8139f9bc_0_805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9" name="Google Shape;449;g39f8139f9bc_0_805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0" name="Google Shape;450;g39f8139f9bc_0_805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1" name="Google Shape;451;g39f8139f9bc_0_805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2" name="Google Shape;452;g39f8139f9bc_0_805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3" name="Google Shape;453;g39f8139f9bc_0_805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4" name="Google Shape;454;g39f8139f9bc_0_805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5" name="Google Shape;455;g39f8139f9bc_0_805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6" name="Google Shape;456;g39f8139f9bc_0_805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7" name="Google Shape;457;g39f8139f9bc_0_805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8" name="Google Shape;458;g39f8139f9bc_0_805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9" name="Google Shape;459;g39f8139f9bc_0_805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0" name="Google Shape;460;g39f8139f9bc_0_805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1" name="Google Shape;461;g39f8139f9bc_0_805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2" name="Google Shape;462;g39f8139f9bc_0_805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3" name="Google Shape;463;g39f8139f9bc_0_805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4" name="Google Shape;464;g39f8139f9bc_0_805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5" name="Google Shape;465;g39f8139f9bc_0_805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6" name="Google Shape;466;g39f8139f9bc_0_805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7" name="Google Shape;467;g39f8139f9bc_0_805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8" name="Google Shape;468;g39f8139f9bc_0_805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9" name="Google Shape;469;g39f8139f9bc_0_805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0" name="Google Shape;470;g39f8139f9bc_0_805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1" name="Google Shape;471;g39f8139f9bc_0_805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2" name="Google Shape;472;g39f8139f9bc_0_805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473" name="Google Shape;473;g39f8139f9bc_0_805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474" name="Google Shape;474;g39f8139f9bc_0_805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5" name="Google Shape;475;g39f8139f9bc_0_805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6" name="Google Shape;476;g39f8139f9bc_0_805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7" name="Google Shape;477;g39f8139f9bc_0_805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8" name="Google Shape;478;g39f8139f9bc_0_805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9" name="Google Shape;479;g39f8139f9bc_0_805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0" name="Google Shape;480;g39f8139f9bc_0_805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1" name="Google Shape;481;g39f8139f9bc_0_805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2" name="Google Shape;482;g39f8139f9bc_0_805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3" name="Google Shape;483;g39f8139f9bc_0_805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4" name="Google Shape;484;g39f8139f9bc_0_805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5" name="Google Shape;485;g39f8139f9bc_0_805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6" name="Google Shape;486;g39f8139f9bc_0_805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7" name="Google Shape;487;g39f8139f9bc_0_805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8" name="Google Shape;488;g39f8139f9bc_0_805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9" name="Google Shape;489;g39f8139f9bc_0_805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0" name="Google Shape;490;g39f8139f9bc_0_805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1" name="Google Shape;491;g39f8139f9bc_0_805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2" name="Google Shape;492;g39f8139f9bc_0_805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3" name="Google Shape;493;g39f8139f9bc_0_805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4" name="Google Shape;494;g39f8139f9bc_0_805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5" name="Google Shape;495;g39f8139f9bc_0_805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6" name="Google Shape;496;g39f8139f9bc_0_805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7" name="Google Shape;497;g39f8139f9bc_0_805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8" name="Google Shape;498;g39f8139f9bc_0_805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9" name="Google Shape;499;g39f8139f9bc_0_805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0" name="Google Shape;500;g39f8139f9bc_0_805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1" name="Google Shape;501;g39f8139f9bc_0_805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2" name="Google Shape;502;g39f8139f9bc_0_805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3" name="Google Shape;503;g39f8139f9bc_0_805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4" name="Google Shape;504;g39f8139f9bc_0_805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5" name="Google Shape;505;g39f8139f9bc_0_805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6" name="Google Shape;506;g39f8139f9bc_0_805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7" name="Google Shape;507;g39f8139f9bc_0_805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8" name="Google Shape;508;g39f8139f9bc_0_805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09" name="Google Shape;509;g39f8139f9bc_0_805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Existing processes/Solutions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0" name="Google Shape;510;g39f8139f9bc_0_8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g39f8139f9bc_0_805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2" name="Google Shape;512;g39f8139f9bc_0_805"/>
          <p:cNvSpPr txBox="1"/>
          <p:nvPr/>
        </p:nvSpPr>
        <p:spPr>
          <a:xfrm>
            <a:off x="588125" y="1416088"/>
            <a:ext cx="5304900" cy="18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            1. Manual Radiological Assessments</a:t>
            </a:r>
            <a:endParaRPr b="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Image acquisition and quality check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Systematic scanning of lung fields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Identification of TB indicators (cavities, opacities, nodules)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Interpretation and reporting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g39f8139f9bc_0_805"/>
          <p:cNvSpPr txBox="1"/>
          <p:nvPr/>
        </p:nvSpPr>
        <p:spPr>
          <a:xfrm>
            <a:off x="6203575" y="1416088"/>
            <a:ext cx="5400300" cy="18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               2. Classic Machine Learning Methods</a:t>
            </a:r>
            <a:endParaRPr b="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Image preprocessing and enhancement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Manual feature extraction (texture, shape, intensity)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Classification using SVM, Random Forests, or KNN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Result generation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g39f8139f9bc_0_805"/>
          <p:cNvSpPr txBox="1"/>
          <p:nvPr/>
        </p:nvSpPr>
        <p:spPr>
          <a:xfrm>
            <a:off x="3931675" y="3713450"/>
            <a:ext cx="4337100" cy="18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3. Limitations of Current Solutions</a:t>
            </a:r>
            <a:endParaRPr b="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High dependency on human expertise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Inconsistent performance across populations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Lack of scalability for mass screening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Significant time and resource </a:t>
            </a: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requirements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Limited accessibility in low-resource settings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9f8139f9bc_0_812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1" name="Google Shape;521;g39f8139f9bc_0_812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22" name="Google Shape;522;g39f8139f9bc_0_812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523" name="Google Shape;523;g39f8139f9bc_0_812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524" name="Google Shape;524;g39f8139f9bc_0_812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525" name="Google Shape;525;g39f8139f9bc_0_812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6" name="Google Shape;526;g39f8139f9bc_0_812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7" name="Google Shape;527;g39f8139f9bc_0_812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8" name="Google Shape;528;g39f8139f9bc_0_812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9" name="Google Shape;529;g39f8139f9bc_0_812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0" name="Google Shape;530;g39f8139f9bc_0_812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1" name="Google Shape;531;g39f8139f9bc_0_812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2" name="Google Shape;532;g39f8139f9bc_0_812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3" name="Google Shape;533;g39f8139f9bc_0_812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4" name="Google Shape;534;g39f8139f9bc_0_812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5" name="Google Shape;535;g39f8139f9bc_0_812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6" name="Google Shape;536;g39f8139f9bc_0_812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7" name="Google Shape;537;g39f8139f9bc_0_812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8" name="Google Shape;538;g39f8139f9bc_0_812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9" name="Google Shape;539;g39f8139f9bc_0_812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0" name="Google Shape;540;g39f8139f9bc_0_812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1" name="Google Shape;541;g39f8139f9bc_0_812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2" name="Google Shape;542;g39f8139f9bc_0_812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3" name="Google Shape;543;g39f8139f9bc_0_812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4" name="Google Shape;544;g39f8139f9bc_0_812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5" name="Google Shape;545;g39f8139f9bc_0_812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6" name="Google Shape;546;g39f8139f9bc_0_812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7" name="Google Shape;547;g39f8139f9bc_0_812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8" name="Google Shape;548;g39f8139f9bc_0_812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9" name="Google Shape;549;g39f8139f9bc_0_812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50" name="Google Shape;550;g39f8139f9bc_0_812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51" name="Google Shape;551;g39f8139f9bc_0_812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52" name="Google Shape;552;g39f8139f9bc_0_812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53" name="Google Shape;553;g39f8139f9bc_0_812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54" name="Google Shape;554;g39f8139f9bc_0_812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55" name="Google Shape;555;g39f8139f9bc_0_812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56" name="Google Shape;556;g39f8139f9bc_0_812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57" name="Google Shape;557;g39f8139f9bc_0_812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58" name="Google Shape;558;g39f8139f9bc_0_812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59" name="Google Shape;559;g39f8139f9bc_0_812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560" name="Google Shape;560;g39f8139f9bc_0_812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561" name="Google Shape;561;g39f8139f9bc_0_812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2" name="Google Shape;562;g39f8139f9bc_0_812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3" name="Google Shape;563;g39f8139f9bc_0_812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4" name="Google Shape;564;g39f8139f9bc_0_812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5" name="Google Shape;565;g39f8139f9bc_0_812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6" name="Google Shape;566;g39f8139f9bc_0_812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7" name="Google Shape;567;g39f8139f9bc_0_812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8" name="Google Shape;568;g39f8139f9bc_0_812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9" name="Google Shape;569;g39f8139f9bc_0_812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0" name="Google Shape;570;g39f8139f9bc_0_812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1" name="Google Shape;571;g39f8139f9bc_0_812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2" name="Google Shape;572;g39f8139f9bc_0_812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3" name="Google Shape;573;g39f8139f9bc_0_812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4" name="Google Shape;574;g39f8139f9bc_0_812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5" name="Google Shape;575;g39f8139f9bc_0_812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6" name="Google Shape;576;g39f8139f9bc_0_812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7" name="Google Shape;577;g39f8139f9bc_0_812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8" name="Google Shape;578;g39f8139f9bc_0_812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9" name="Google Shape;579;g39f8139f9bc_0_812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0" name="Google Shape;580;g39f8139f9bc_0_812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1" name="Google Shape;581;g39f8139f9bc_0_812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2" name="Google Shape;582;g39f8139f9bc_0_812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3" name="Google Shape;583;g39f8139f9bc_0_812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4" name="Google Shape;584;g39f8139f9bc_0_812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5" name="Google Shape;585;g39f8139f9bc_0_812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6" name="Google Shape;586;g39f8139f9bc_0_812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7" name="Google Shape;587;g39f8139f9bc_0_812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8" name="Google Shape;588;g39f8139f9bc_0_812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9" name="Google Shape;589;g39f8139f9bc_0_812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0" name="Google Shape;590;g39f8139f9bc_0_812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1" name="Google Shape;591;g39f8139f9bc_0_812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2" name="Google Shape;592;g39f8139f9bc_0_812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3" name="Google Shape;593;g39f8139f9bc_0_812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4" name="Google Shape;594;g39f8139f9bc_0_812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5" name="Google Shape;595;g39f8139f9bc_0_812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96" name="Google Shape;596;g39f8139f9bc_0_812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Compare &amp; </a:t>
            </a: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Contrast Alternative</a:t>
            </a: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solution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7" name="Google Shape;597;g39f8139f9bc_0_8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g39f8139f9bc_0_812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9" name="Google Shape;599;g39f8139f9bc_0_812"/>
          <p:cNvSpPr txBox="1"/>
          <p:nvPr/>
        </p:nvSpPr>
        <p:spPr>
          <a:xfrm>
            <a:off x="250900" y="1660725"/>
            <a:ext cx="11553600" cy="50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0" name="Google Shape;600;g39f8139f9bc_0_812"/>
          <p:cNvGraphicFramePr/>
          <p:nvPr/>
        </p:nvGraphicFramePr>
        <p:xfrm>
          <a:off x="166350" y="1190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{ACC8210A-88AE-4881-A68B-345F127D8141}</a:tableStyleId>
              </a:tblPr>
              <a:tblGrid>
                <a:gridCol w="2124075"/>
                <a:gridCol w="3352800"/>
                <a:gridCol w="3352800"/>
                <a:gridCol w="2514600"/>
              </a:tblGrid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Solution Approach</a:t>
                      </a:r>
                      <a:endParaRPr b="1"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Advantages</a:t>
                      </a:r>
                      <a:endParaRPr b="1"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15240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Disadvantages</a:t>
                      </a:r>
                      <a:endParaRPr b="1"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15240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Viability</a:t>
                      </a:r>
                      <a:endParaRPr b="1"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15240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Traditional Machine Learning</a:t>
                      </a:r>
                      <a:endParaRPr b="1"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Lower computational needs; More interpretable</a:t>
                      </a:r>
                      <a:endParaRPr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Low accuracy; Manual feature engineering required</a:t>
                      </a:r>
                      <a:endParaRPr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❌ Not suitable for complex patterns</a:t>
                      </a:r>
                      <a:endParaRPr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91425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Cloud-Based AI APIs</a:t>
                      </a:r>
                      <a:endParaRPr b="1"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Easy implementation; No training needed</a:t>
                      </a:r>
                      <a:endParaRPr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Ongoing costs; Internet dependency; Privacy concerns</a:t>
                      </a:r>
                      <a:endParaRPr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❌ Not feasible for offline use</a:t>
                      </a:r>
                      <a:endParaRPr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91425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Transfer Learning</a:t>
                      </a:r>
                      <a:endParaRPr b="1"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Faster development; Good performance</a:t>
                      </a:r>
                      <a:endParaRPr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Limited customization; Dataset compatibility issues</a:t>
                      </a:r>
                      <a:endParaRPr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⚠️ Moderate flexibility</a:t>
                      </a:r>
                      <a:endParaRPr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91425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14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Custom CNN Solution</a:t>
                      </a:r>
                      <a:endParaRPr b="1"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High accuracy (94.2%); Offline functionality; Cost-effective; Fully customizable</a:t>
                      </a:r>
                      <a:endParaRPr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Requires training resources</a:t>
                      </a:r>
                      <a:endParaRPr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✅ Best for target environment</a:t>
                      </a:r>
                      <a:endParaRPr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91425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9f8139f9bc_0_819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7" name="Google Shape;607;g39f8139f9bc_0_819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08" name="Google Shape;608;g39f8139f9bc_0_819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609" name="Google Shape;609;g39f8139f9bc_0_819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610" name="Google Shape;610;g39f8139f9bc_0_819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611" name="Google Shape;611;g39f8139f9bc_0_819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2" name="Google Shape;612;g39f8139f9bc_0_819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3" name="Google Shape;613;g39f8139f9bc_0_819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4" name="Google Shape;614;g39f8139f9bc_0_819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5" name="Google Shape;615;g39f8139f9bc_0_819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6" name="Google Shape;616;g39f8139f9bc_0_819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7" name="Google Shape;617;g39f8139f9bc_0_819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8" name="Google Shape;618;g39f8139f9bc_0_819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9" name="Google Shape;619;g39f8139f9bc_0_819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0" name="Google Shape;620;g39f8139f9bc_0_819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1" name="Google Shape;621;g39f8139f9bc_0_819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2" name="Google Shape;622;g39f8139f9bc_0_819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3" name="Google Shape;623;g39f8139f9bc_0_819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4" name="Google Shape;624;g39f8139f9bc_0_819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5" name="Google Shape;625;g39f8139f9bc_0_819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6" name="Google Shape;626;g39f8139f9bc_0_819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7" name="Google Shape;627;g39f8139f9bc_0_819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8" name="Google Shape;628;g39f8139f9bc_0_819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9" name="Google Shape;629;g39f8139f9bc_0_819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0" name="Google Shape;630;g39f8139f9bc_0_819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1" name="Google Shape;631;g39f8139f9bc_0_819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2" name="Google Shape;632;g39f8139f9bc_0_819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3" name="Google Shape;633;g39f8139f9bc_0_819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4" name="Google Shape;634;g39f8139f9bc_0_819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5" name="Google Shape;635;g39f8139f9bc_0_819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6" name="Google Shape;636;g39f8139f9bc_0_819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7" name="Google Shape;637;g39f8139f9bc_0_819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8" name="Google Shape;638;g39f8139f9bc_0_819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9" name="Google Shape;639;g39f8139f9bc_0_819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40" name="Google Shape;640;g39f8139f9bc_0_819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41" name="Google Shape;641;g39f8139f9bc_0_819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42" name="Google Shape;642;g39f8139f9bc_0_819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43" name="Google Shape;643;g39f8139f9bc_0_819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44" name="Google Shape;644;g39f8139f9bc_0_819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45" name="Google Shape;645;g39f8139f9bc_0_819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646" name="Google Shape;646;g39f8139f9bc_0_819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647" name="Google Shape;647;g39f8139f9bc_0_819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8" name="Google Shape;648;g39f8139f9bc_0_819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9" name="Google Shape;649;g39f8139f9bc_0_819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0" name="Google Shape;650;g39f8139f9bc_0_819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1" name="Google Shape;651;g39f8139f9bc_0_819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2" name="Google Shape;652;g39f8139f9bc_0_819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3" name="Google Shape;653;g39f8139f9bc_0_819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4" name="Google Shape;654;g39f8139f9bc_0_819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5" name="Google Shape;655;g39f8139f9bc_0_819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6" name="Google Shape;656;g39f8139f9bc_0_819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7" name="Google Shape;657;g39f8139f9bc_0_819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8" name="Google Shape;658;g39f8139f9bc_0_819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9" name="Google Shape;659;g39f8139f9bc_0_819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0" name="Google Shape;660;g39f8139f9bc_0_819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1" name="Google Shape;661;g39f8139f9bc_0_819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2" name="Google Shape;662;g39f8139f9bc_0_819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3" name="Google Shape;663;g39f8139f9bc_0_819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4" name="Google Shape;664;g39f8139f9bc_0_819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5" name="Google Shape;665;g39f8139f9bc_0_819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6" name="Google Shape;666;g39f8139f9bc_0_819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7" name="Google Shape;667;g39f8139f9bc_0_819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8" name="Google Shape;668;g39f8139f9bc_0_819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9" name="Google Shape;669;g39f8139f9bc_0_819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0" name="Google Shape;670;g39f8139f9bc_0_819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1" name="Google Shape;671;g39f8139f9bc_0_819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2" name="Google Shape;672;g39f8139f9bc_0_819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3" name="Google Shape;673;g39f8139f9bc_0_819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4" name="Google Shape;674;g39f8139f9bc_0_819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5" name="Google Shape;675;g39f8139f9bc_0_819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6" name="Google Shape;676;g39f8139f9bc_0_819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7" name="Google Shape;677;g39f8139f9bc_0_819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8" name="Google Shape;678;g39f8139f9bc_0_819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9" name="Google Shape;679;g39f8139f9bc_0_819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0" name="Google Shape;680;g39f8139f9bc_0_819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1" name="Google Shape;681;g39f8139f9bc_0_819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682" name="Google Shape;682;g39f8139f9bc_0_819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&amp; Development using Modern Tools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3" name="Google Shape;683;g39f8139f9bc_0_8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g39f8139f9bc_0_819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5" name="Google Shape;685;g39f8139f9bc_0_819"/>
          <p:cNvSpPr txBox="1"/>
          <p:nvPr/>
        </p:nvSpPr>
        <p:spPr>
          <a:xfrm>
            <a:off x="501800" y="1804100"/>
            <a:ext cx="5711100" cy="40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b="1"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Technology Stack:</a:t>
            </a:r>
            <a:endParaRPr b="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AutoNum type="arabicPeriod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Python, TensorFlow/Keras for deep learning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AutoNum type="arabicPeriod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OpenCV for image processing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AutoNum type="arabicPeriod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Scikit-learn for evaluation metrics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AutoNum type="arabicPeriod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Tkinter for GUI development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b="1"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Development Pipeline:</a:t>
            </a:r>
            <a:endParaRPr b="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AutoNum type="arabicPeriod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Data collection from multiple sources (TBX11K,NIH, Shenzhen datasets)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AutoNum type="arabicPeriod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Image preprocessing: resizing, grayscale conversion, normalization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AutoNum type="arabicPeriod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CNN architecture design with three convolutional blocks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AutoNum type="arabicPeriod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Training with data augmentation and class weighting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AutoNum type="arabicPeriod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GUI integration for clinical deployment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g39f8139f9bc_0_819"/>
          <p:cNvSpPr txBox="1"/>
          <p:nvPr/>
        </p:nvSpPr>
        <p:spPr>
          <a:xfrm>
            <a:off x="7051375" y="2561850"/>
            <a:ext cx="47670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Key Features:</a:t>
            </a:r>
            <a:endParaRPr b="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Batch normalization for training stability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Dropout layers for preventing overfitting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Sigmoid activation for binary classification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Real-time prediction capability (&lt;1 seconds)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7" name="Google Shape;687;g39f8139f9bc_0_819"/>
          <p:cNvSpPr txBox="1"/>
          <p:nvPr/>
        </p:nvSpPr>
        <p:spPr>
          <a:xfrm>
            <a:off x="752700" y="1158925"/>
            <a:ext cx="41817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Technical Implementation Framework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9f8139f9bc_0_854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4" name="Google Shape;694;g39f8139f9bc_0_854"/>
          <p:cNvSpPr txBox="1"/>
          <p:nvPr>
            <p:ph idx="12" type="sldNum"/>
          </p:nvPr>
        </p:nvSpPr>
        <p:spPr>
          <a:xfrm>
            <a:off x="9246352" y="642135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95" name="Google Shape;695;g39f8139f9bc_0_854"/>
          <p:cNvGrpSpPr/>
          <p:nvPr/>
        </p:nvGrpSpPr>
        <p:grpSpPr>
          <a:xfrm>
            <a:off x="-7716" y="6359089"/>
            <a:ext cx="12192000" cy="476400"/>
            <a:chOff x="0" y="6381750"/>
            <a:chExt cx="12192000" cy="476400"/>
          </a:xfrm>
        </p:grpSpPr>
        <p:sp>
          <p:nvSpPr>
            <p:cNvPr id="696" name="Google Shape;696;g39f8139f9bc_0_854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697" name="Google Shape;697;g39f8139f9bc_0_854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698" name="Google Shape;698;g39f8139f9bc_0_854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9" name="Google Shape;699;g39f8139f9bc_0_854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0" name="Google Shape;700;g39f8139f9bc_0_854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1" name="Google Shape;701;g39f8139f9bc_0_854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2" name="Google Shape;702;g39f8139f9bc_0_854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3" name="Google Shape;703;g39f8139f9bc_0_854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4" name="Google Shape;704;g39f8139f9bc_0_854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5" name="Google Shape;705;g39f8139f9bc_0_854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6" name="Google Shape;706;g39f8139f9bc_0_854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7" name="Google Shape;707;g39f8139f9bc_0_854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8" name="Google Shape;708;g39f8139f9bc_0_854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9" name="Google Shape;709;g39f8139f9bc_0_854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10" name="Google Shape;710;g39f8139f9bc_0_854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11" name="Google Shape;711;g39f8139f9bc_0_854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12" name="Google Shape;712;g39f8139f9bc_0_854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13" name="Google Shape;713;g39f8139f9bc_0_854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14" name="Google Shape;714;g39f8139f9bc_0_854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15" name="Google Shape;715;g39f8139f9bc_0_854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16" name="Google Shape;716;g39f8139f9bc_0_854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17" name="Google Shape;717;g39f8139f9bc_0_854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18" name="Google Shape;718;g39f8139f9bc_0_854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19" name="Google Shape;719;g39f8139f9bc_0_854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20" name="Google Shape;720;g39f8139f9bc_0_854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21" name="Google Shape;721;g39f8139f9bc_0_854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22" name="Google Shape;722;g39f8139f9bc_0_854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23" name="Google Shape;723;g39f8139f9bc_0_854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24" name="Google Shape;724;g39f8139f9bc_0_854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25" name="Google Shape;725;g39f8139f9bc_0_854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26" name="Google Shape;726;g39f8139f9bc_0_854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27" name="Google Shape;727;g39f8139f9bc_0_854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28" name="Google Shape;728;g39f8139f9bc_0_854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29" name="Google Shape;729;g39f8139f9bc_0_854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0" name="Google Shape;730;g39f8139f9bc_0_854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1" name="Google Shape;731;g39f8139f9bc_0_854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2" name="Google Shape;732;g39f8139f9bc_0_854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733" name="Google Shape;733;g39f8139f9bc_0_854"/>
          <p:cNvGrpSpPr/>
          <p:nvPr/>
        </p:nvGrpSpPr>
        <p:grpSpPr>
          <a:xfrm>
            <a:off x="154412" y="6466761"/>
            <a:ext cx="4247753" cy="273665"/>
            <a:chOff x="4366684" y="2926127"/>
            <a:chExt cx="3278346" cy="2572038"/>
          </a:xfrm>
        </p:grpSpPr>
        <p:sp>
          <p:nvSpPr>
            <p:cNvPr id="734" name="Google Shape;734;g39f8139f9bc_0_854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5" name="Google Shape;735;g39f8139f9bc_0_854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6" name="Google Shape;736;g39f8139f9bc_0_854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7" name="Google Shape;737;g39f8139f9bc_0_854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8" name="Google Shape;738;g39f8139f9bc_0_854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9" name="Google Shape;739;g39f8139f9bc_0_854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0" name="Google Shape;740;g39f8139f9bc_0_854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1" name="Google Shape;741;g39f8139f9bc_0_854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2" name="Google Shape;742;g39f8139f9bc_0_854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3" name="Google Shape;743;g39f8139f9bc_0_854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4" name="Google Shape;744;g39f8139f9bc_0_854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5" name="Google Shape;745;g39f8139f9bc_0_854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6" name="Google Shape;746;g39f8139f9bc_0_854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7" name="Google Shape;747;g39f8139f9bc_0_854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8" name="Google Shape;748;g39f8139f9bc_0_854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9" name="Google Shape;749;g39f8139f9bc_0_854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0" name="Google Shape;750;g39f8139f9bc_0_854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1" name="Google Shape;751;g39f8139f9bc_0_854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2" name="Google Shape;752;g39f8139f9bc_0_854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3" name="Google Shape;753;g39f8139f9bc_0_854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4" name="Google Shape;754;g39f8139f9bc_0_854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5" name="Google Shape;755;g39f8139f9bc_0_854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6" name="Google Shape;756;g39f8139f9bc_0_854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7" name="Google Shape;757;g39f8139f9bc_0_854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8" name="Google Shape;758;g39f8139f9bc_0_854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9" name="Google Shape;759;g39f8139f9bc_0_854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0" name="Google Shape;760;g39f8139f9bc_0_854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1" name="Google Shape;761;g39f8139f9bc_0_854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2" name="Google Shape;762;g39f8139f9bc_0_854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3" name="Google Shape;763;g39f8139f9bc_0_854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4" name="Google Shape;764;g39f8139f9bc_0_854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5" name="Google Shape;765;g39f8139f9bc_0_854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6" name="Google Shape;766;g39f8139f9bc_0_854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7" name="Google Shape;767;g39f8139f9bc_0_854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8" name="Google Shape;768;g39f8139f9bc_0_854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769" name="Google Shape;769;g39f8139f9bc_0_854"/>
          <p:cNvSpPr/>
          <p:nvPr/>
        </p:nvSpPr>
        <p:spPr>
          <a:xfrm>
            <a:off x="-11948" y="-24594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Flowcharts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0" name="Google Shape;770;g39f8139f9bc_0_8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39" y="11046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g39f8139f9bc_0_854"/>
          <p:cNvSpPr txBox="1"/>
          <p:nvPr>
            <p:ph idx="12" type="sldNum"/>
          </p:nvPr>
        </p:nvSpPr>
        <p:spPr>
          <a:xfrm>
            <a:off x="9246352" y="6421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72" name="Google Shape;772;g39f8139f9bc_0_8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500" y="1206725"/>
            <a:ext cx="10518475" cy="483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9f8139f9bc_0_826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9" name="Google Shape;779;g39f8139f9bc_0_826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80" name="Google Shape;780;g39f8139f9bc_0_826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781" name="Google Shape;781;g39f8139f9bc_0_826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782" name="Google Shape;782;g39f8139f9bc_0_826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783" name="Google Shape;783;g39f8139f9bc_0_826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4" name="Google Shape;784;g39f8139f9bc_0_826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5" name="Google Shape;785;g39f8139f9bc_0_826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6" name="Google Shape;786;g39f8139f9bc_0_826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7" name="Google Shape;787;g39f8139f9bc_0_826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8" name="Google Shape;788;g39f8139f9bc_0_826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9" name="Google Shape;789;g39f8139f9bc_0_826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0" name="Google Shape;790;g39f8139f9bc_0_826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1" name="Google Shape;791;g39f8139f9bc_0_826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2" name="Google Shape;792;g39f8139f9bc_0_826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3" name="Google Shape;793;g39f8139f9bc_0_826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4" name="Google Shape;794;g39f8139f9bc_0_826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5" name="Google Shape;795;g39f8139f9bc_0_826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6" name="Google Shape;796;g39f8139f9bc_0_826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7" name="Google Shape;797;g39f8139f9bc_0_826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8" name="Google Shape;798;g39f8139f9bc_0_826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9" name="Google Shape;799;g39f8139f9bc_0_826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0" name="Google Shape;800;g39f8139f9bc_0_826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1" name="Google Shape;801;g39f8139f9bc_0_826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2" name="Google Shape;802;g39f8139f9bc_0_826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3" name="Google Shape;803;g39f8139f9bc_0_826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4" name="Google Shape;804;g39f8139f9bc_0_826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5" name="Google Shape;805;g39f8139f9bc_0_826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6" name="Google Shape;806;g39f8139f9bc_0_826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7" name="Google Shape;807;g39f8139f9bc_0_826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8" name="Google Shape;808;g39f8139f9bc_0_826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9" name="Google Shape;809;g39f8139f9bc_0_826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10" name="Google Shape;810;g39f8139f9bc_0_826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11" name="Google Shape;811;g39f8139f9bc_0_826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12" name="Google Shape;812;g39f8139f9bc_0_826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13" name="Google Shape;813;g39f8139f9bc_0_826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14" name="Google Shape;814;g39f8139f9bc_0_826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15" name="Google Shape;815;g39f8139f9bc_0_826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16" name="Google Shape;816;g39f8139f9bc_0_826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17" name="Google Shape;817;g39f8139f9bc_0_826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818" name="Google Shape;818;g39f8139f9bc_0_826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819" name="Google Shape;819;g39f8139f9bc_0_826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0" name="Google Shape;820;g39f8139f9bc_0_826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1" name="Google Shape;821;g39f8139f9bc_0_826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2" name="Google Shape;822;g39f8139f9bc_0_826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3" name="Google Shape;823;g39f8139f9bc_0_826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4" name="Google Shape;824;g39f8139f9bc_0_826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5" name="Google Shape;825;g39f8139f9bc_0_826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6" name="Google Shape;826;g39f8139f9bc_0_826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7" name="Google Shape;827;g39f8139f9bc_0_826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8" name="Google Shape;828;g39f8139f9bc_0_826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9" name="Google Shape;829;g39f8139f9bc_0_826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0" name="Google Shape;830;g39f8139f9bc_0_826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1" name="Google Shape;831;g39f8139f9bc_0_826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2" name="Google Shape;832;g39f8139f9bc_0_826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3" name="Google Shape;833;g39f8139f9bc_0_826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4" name="Google Shape;834;g39f8139f9bc_0_826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5" name="Google Shape;835;g39f8139f9bc_0_826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6" name="Google Shape;836;g39f8139f9bc_0_826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7" name="Google Shape;837;g39f8139f9bc_0_826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8" name="Google Shape;838;g39f8139f9bc_0_826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9" name="Google Shape;839;g39f8139f9bc_0_826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0" name="Google Shape;840;g39f8139f9bc_0_826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1" name="Google Shape;841;g39f8139f9bc_0_826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2" name="Google Shape;842;g39f8139f9bc_0_826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3" name="Google Shape;843;g39f8139f9bc_0_826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4" name="Google Shape;844;g39f8139f9bc_0_826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5" name="Google Shape;845;g39f8139f9bc_0_826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6" name="Google Shape;846;g39f8139f9bc_0_826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7" name="Google Shape;847;g39f8139f9bc_0_826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8" name="Google Shape;848;g39f8139f9bc_0_826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9" name="Google Shape;849;g39f8139f9bc_0_826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0" name="Google Shape;850;g39f8139f9bc_0_826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1" name="Google Shape;851;g39f8139f9bc_0_826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2" name="Google Shape;852;g39f8139f9bc_0_826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3" name="Google Shape;853;g39f8139f9bc_0_826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54" name="Google Shape;854;g39f8139f9bc_0_826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&amp; Validation Of Solution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5" name="Google Shape;855;g39f8139f9bc_0_8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g39f8139f9bc_0_826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7" name="Google Shape;857;g39f8139f9bc_0_826"/>
          <p:cNvSpPr txBox="1"/>
          <p:nvPr/>
        </p:nvSpPr>
        <p:spPr>
          <a:xfrm>
            <a:off x="692975" y="1887750"/>
            <a:ext cx="5280900" cy="42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b="1"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Dataset Strategy:</a:t>
            </a:r>
            <a:endParaRPr b="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9,000 CXR images (7,000 healthy, 2,000 TB)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Stratified 80-20 train-validation split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K-fold cross-validation for reliability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b="1"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Performance Metrics:</a:t>
            </a:r>
            <a:endParaRPr b="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Accuracy: 94.2%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Precision: 93.1% (Low False Positives)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Recall: 92.8% (Low False Negatives)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F1-Score: 92.9%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AUC-ROC: 0.96 (Excellent discrimination)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g39f8139f9bc_0_826"/>
          <p:cNvSpPr txBox="1"/>
          <p:nvPr/>
        </p:nvSpPr>
        <p:spPr>
          <a:xfrm>
            <a:off x="6714625" y="2509050"/>
            <a:ext cx="4743300" cy="18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b="1"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Validation Results:</a:t>
            </a:r>
            <a:endParaRPr b="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Confusion matrix shows balanced performance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Specificity: 93.8%, Sensitivity: 91.7%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Consistent across training and validation sets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GUI testing confirmed &lt;1 second prediction time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9" name="Google Shape;859;g39f8139f9bc_0_826"/>
          <p:cNvSpPr txBox="1"/>
          <p:nvPr/>
        </p:nvSpPr>
        <p:spPr>
          <a:xfrm>
            <a:off x="848300" y="1099200"/>
            <a:ext cx="49941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Rigorous Performance Evaluation</a:t>
            </a:r>
            <a:endParaRPr b="1"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9f8139f9bc_0_833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6" name="Google Shape;866;g39f8139f9bc_0_833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67" name="Google Shape;867;g39f8139f9bc_0_833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868" name="Google Shape;868;g39f8139f9bc_0_833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869" name="Google Shape;869;g39f8139f9bc_0_833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870" name="Google Shape;870;g39f8139f9bc_0_833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1" name="Google Shape;871;g39f8139f9bc_0_833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2" name="Google Shape;872;g39f8139f9bc_0_833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3" name="Google Shape;873;g39f8139f9bc_0_833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4" name="Google Shape;874;g39f8139f9bc_0_833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5" name="Google Shape;875;g39f8139f9bc_0_833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6" name="Google Shape;876;g39f8139f9bc_0_833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7" name="Google Shape;877;g39f8139f9bc_0_833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8" name="Google Shape;878;g39f8139f9bc_0_833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9" name="Google Shape;879;g39f8139f9bc_0_833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0" name="Google Shape;880;g39f8139f9bc_0_833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1" name="Google Shape;881;g39f8139f9bc_0_833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2" name="Google Shape;882;g39f8139f9bc_0_833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3" name="Google Shape;883;g39f8139f9bc_0_833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4" name="Google Shape;884;g39f8139f9bc_0_833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5" name="Google Shape;885;g39f8139f9bc_0_833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6" name="Google Shape;886;g39f8139f9bc_0_833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7" name="Google Shape;887;g39f8139f9bc_0_833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8" name="Google Shape;888;g39f8139f9bc_0_833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9" name="Google Shape;889;g39f8139f9bc_0_833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0" name="Google Shape;890;g39f8139f9bc_0_833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1" name="Google Shape;891;g39f8139f9bc_0_833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2" name="Google Shape;892;g39f8139f9bc_0_833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3" name="Google Shape;893;g39f8139f9bc_0_833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4" name="Google Shape;894;g39f8139f9bc_0_833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5" name="Google Shape;895;g39f8139f9bc_0_833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6" name="Google Shape;896;g39f8139f9bc_0_833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7" name="Google Shape;897;g39f8139f9bc_0_833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8" name="Google Shape;898;g39f8139f9bc_0_833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9" name="Google Shape;899;g39f8139f9bc_0_833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00" name="Google Shape;900;g39f8139f9bc_0_833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01" name="Google Shape;901;g39f8139f9bc_0_833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02" name="Google Shape;902;g39f8139f9bc_0_833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03" name="Google Shape;903;g39f8139f9bc_0_833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04" name="Google Shape;904;g39f8139f9bc_0_833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905" name="Google Shape;905;g39f8139f9bc_0_833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906" name="Google Shape;906;g39f8139f9bc_0_833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7" name="Google Shape;907;g39f8139f9bc_0_833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8" name="Google Shape;908;g39f8139f9bc_0_833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9" name="Google Shape;909;g39f8139f9bc_0_833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0" name="Google Shape;910;g39f8139f9bc_0_833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1" name="Google Shape;911;g39f8139f9bc_0_833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2" name="Google Shape;912;g39f8139f9bc_0_833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3" name="Google Shape;913;g39f8139f9bc_0_833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4" name="Google Shape;914;g39f8139f9bc_0_833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5" name="Google Shape;915;g39f8139f9bc_0_833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6" name="Google Shape;916;g39f8139f9bc_0_833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7" name="Google Shape;917;g39f8139f9bc_0_833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8" name="Google Shape;918;g39f8139f9bc_0_833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9" name="Google Shape;919;g39f8139f9bc_0_833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0" name="Google Shape;920;g39f8139f9bc_0_833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1" name="Google Shape;921;g39f8139f9bc_0_833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2" name="Google Shape;922;g39f8139f9bc_0_833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3" name="Google Shape;923;g39f8139f9bc_0_833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4" name="Google Shape;924;g39f8139f9bc_0_833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5" name="Google Shape;925;g39f8139f9bc_0_833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6" name="Google Shape;926;g39f8139f9bc_0_833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7" name="Google Shape;927;g39f8139f9bc_0_833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8" name="Google Shape;928;g39f8139f9bc_0_833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9" name="Google Shape;929;g39f8139f9bc_0_833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0" name="Google Shape;930;g39f8139f9bc_0_833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1" name="Google Shape;931;g39f8139f9bc_0_833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2" name="Google Shape;932;g39f8139f9bc_0_833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3" name="Google Shape;933;g39f8139f9bc_0_833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4" name="Google Shape;934;g39f8139f9bc_0_833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5" name="Google Shape;935;g39f8139f9bc_0_833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6" name="Google Shape;936;g39f8139f9bc_0_833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7" name="Google Shape;937;g39f8139f9bc_0_833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8" name="Google Shape;938;g39f8139f9bc_0_833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9" name="Google Shape;939;g39f8139f9bc_0_833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0" name="Google Shape;940;g39f8139f9bc_0_833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41" name="Google Shape;941;g39f8139f9bc_0_833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Development Solution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42" name="Google Shape;942;g39f8139f9bc_0_8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g39f8139f9bc_0_833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4" name="Google Shape;944;g39f8139f9bc_0_833"/>
          <p:cNvSpPr txBox="1"/>
          <p:nvPr/>
        </p:nvSpPr>
        <p:spPr>
          <a:xfrm>
            <a:off x="872175" y="1851900"/>
            <a:ext cx="4504200" cy="3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Strengths</a:t>
            </a: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High diagnostic accuracy (94.2%) surpassing many existing solutions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Offline functionality crucial for low-connectivity regions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Cost-effective with no recurring expenses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User-friendly interface for non-technical users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Rapid screening capability (&lt;1 seconds per image)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Modular design allowing future enhancements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g39f8139f9bc_0_833"/>
          <p:cNvSpPr txBox="1"/>
          <p:nvPr/>
        </p:nvSpPr>
        <p:spPr>
          <a:xfrm>
            <a:off x="6463725" y="1875800"/>
            <a:ext cx="4181700" cy="3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Weaknesses</a:t>
            </a: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Potential demographic biases in training data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Black box nature without explainable AI features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Does not provide severity assessment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6" name="Google Shape;946;g39f8139f9bc_0_833"/>
          <p:cNvSpPr txBox="1"/>
          <p:nvPr/>
        </p:nvSpPr>
        <p:spPr>
          <a:xfrm>
            <a:off x="943875" y="1135025"/>
            <a:ext cx="500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Comprehensive System Evaluation</a:t>
            </a:r>
            <a:endParaRPr b="1"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9f8139f9bc_0_840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3" name="Google Shape;953;g39f8139f9bc_0_840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54" name="Google Shape;954;g39f8139f9bc_0_840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955" name="Google Shape;955;g39f8139f9bc_0_840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56" name="Google Shape;956;g39f8139f9bc_0_840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957" name="Google Shape;957;g39f8139f9bc_0_840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8" name="Google Shape;958;g39f8139f9bc_0_840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9" name="Google Shape;959;g39f8139f9bc_0_840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0" name="Google Shape;960;g39f8139f9bc_0_840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1" name="Google Shape;961;g39f8139f9bc_0_840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2" name="Google Shape;962;g39f8139f9bc_0_840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3" name="Google Shape;963;g39f8139f9bc_0_840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4" name="Google Shape;964;g39f8139f9bc_0_840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5" name="Google Shape;965;g39f8139f9bc_0_840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6" name="Google Shape;966;g39f8139f9bc_0_840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7" name="Google Shape;967;g39f8139f9bc_0_840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8" name="Google Shape;968;g39f8139f9bc_0_840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9" name="Google Shape;969;g39f8139f9bc_0_840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0" name="Google Shape;970;g39f8139f9bc_0_840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1" name="Google Shape;971;g39f8139f9bc_0_840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2" name="Google Shape;972;g39f8139f9bc_0_840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3" name="Google Shape;973;g39f8139f9bc_0_840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4" name="Google Shape;974;g39f8139f9bc_0_840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5" name="Google Shape;975;g39f8139f9bc_0_840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6" name="Google Shape;976;g39f8139f9bc_0_840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7" name="Google Shape;977;g39f8139f9bc_0_840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8" name="Google Shape;978;g39f8139f9bc_0_840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9" name="Google Shape;979;g39f8139f9bc_0_840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0" name="Google Shape;980;g39f8139f9bc_0_840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1" name="Google Shape;981;g39f8139f9bc_0_840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2" name="Google Shape;982;g39f8139f9bc_0_840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3" name="Google Shape;983;g39f8139f9bc_0_840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4" name="Google Shape;984;g39f8139f9bc_0_840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5" name="Google Shape;985;g39f8139f9bc_0_840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6" name="Google Shape;986;g39f8139f9bc_0_840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7" name="Google Shape;987;g39f8139f9bc_0_840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8" name="Google Shape;988;g39f8139f9bc_0_840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9" name="Google Shape;989;g39f8139f9bc_0_840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0" name="Google Shape;990;g39f8139f9bc_0_840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1" name="Google Shape;991;g39f8139f9bc_0_840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992" name="Google Shape;992;g39f8139f9bc_0_840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993" name="Google Shape;993;g39f8139f9bc_0_840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4" name="Google Shape;994;g39f8139f9bc_0_840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5" name="Google Shape;995;g39f8139f9bc_0_840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6" name="Google Shape;996;g39f8139f9bc_0_840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7" name="Google Shape;997;g39f8139f9bc_0_840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8" name="Google Shape;998;g39f8139f9bc_0_840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9" name="Google Shape;999;g39f8139f9bc_0_840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0" name="Google Shape;1000;g39f8139f9bc_0_840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1" name="Google Shape;1001;g39f8139f9bc_0_840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2" name="Google Shape;1002;g39f8139f9bc_0_840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3" name="Google Shape;1003;g39f8139f9bc_0_840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4" name="Google Shape;1004;g39f8139f9bc_0_840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5" name="Google Shape;1005;g39f8139f9bc_0_840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6" name="Google Shape;1006;g39f8139f9bc_0_840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7" name="Google Shape;1007;g39f8139f9bc_0_840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8" name="Google Shape;1008;g39f8139f9bc_0_840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9" name="Google Shape;1009;g39f8139f9bc_0_840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0" name="Google Shape;1010;g39f8139f9bc_0_840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1" name="Google Shape;1011;g39f8139f9bc_0_840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2" name="Google Shape;1012;g39f8139f9bc_0_840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3" name="Google Shape;1013;g39f8139f9bc_0_840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4" name="Google Shape;1014;g39f8139f9bc_0_840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5" name="Google Shape;1015;g39f8139f9bc_0_840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6" name="Google Shape;1016;g39f8139f9bc_0_840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7" name="Google Shape;1017;g39f8139f9bc_0_840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8" name="Google Shape;1018;g39f8139f9bc_0_840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9" name="Google Shape;1019;g39f8139f9bc_0_840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0" name="Google Shape;1020;g39f8139f9bc_0_840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1" name="Google Shape;1021;g39f8139f9bc_0_840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2" name="Google Shape;1022;g39f8139f9bc_0_840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3" name="Google Shape;1023;g39f8139f9bc_0_840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4" name="Google Shape;1024;g39f8139f9bc_0_840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5" name="Google Shape;1025;g39f8139f9bc_0_840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6" name="Google Shape;1026;g39f8139f9bc_0_840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7" name="Google Shape;1027;g39f8139f9bc_0_840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028" name="Google Shape;1028;g39f8139f9bc_0_840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&amp; Outcome Achievement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9" name="Google Shape;1029;g39f8139f9bc_0_8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g39f8139f9bc_0_840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1" name="Google Shape;1031;g39f8139f9bc_0_840"/>
          <p:cNvSpPr txBox="1"/>
          <p:nvPr/>
        </p:nvSpPr>
        <p:spPr>
          <a:xfrm>
            <a:off x="609325" y="1656588"/>
            <a:ext cx="4994100" cy="3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b="1"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Technical Achievement:</a:t>
            </a:r>
            <a:endParaRPr b="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Successful development of end-to-end TB detection system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High-performance CNN model with 94.2% accuracy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Efficient GUI for clinical deployment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b="1"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Innovation Impact:</a:t>
            </a:r>
            <a:endParaRPr b="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Integration of historical diagnostic principles with modern AI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Solution tailored for resource-constrained settings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Open-source framework for research collaboration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2" name="Google Shape;1032;g39f8139f9bc_0_840"/>
          <p:cNvSpPr txBox="1"/>
          <p:nvPr/>
        </p:nvSpPr>
        <p:spPr>
          <a:xfrm>
            <a:off x="6272550" y="1583100"/>
            <a:ext cx="4337100" cy="36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b="1"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Practical Outcomes:</a:t>
            </a:r>
            <a:endParaRPr b="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Demonstrated feasibility of offline AI screening tool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Potential to significantly reduce diagnostic delays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Cost-effective alternative to traditional methods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b="1"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Performance Validation:</a:t>
            </a:r>
            <a:endParaRPr b="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Superior to traditional CAD systems (AUC 0.96 vs 0.71-0.75)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Comparable to human expert performance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○"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Validated on multiple dataset sources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3" name="Google Shape;1033;g39f8139f9bc_0_840"/>
          <p:cNvSpPr txBox="1"/>
          <p:nvPr/>
        </p:nvSpPr>
        <p:spPr>
          <a:xfrm>
            <a:off x="931925" y="955825"/>
            <a:ext cx="48867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Project Success Metrics</a:t>
            </a:r>
            <a:endParaRPr b="1" sz="1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9f8c020aa3_0_1"/>
          <p:cNvSpPr txBox="1"/>
          <p:nvPr/>
        </p:nvSpPr>
        <p:spPr>
          <a:xfrm>
            <a:off x="4232" y="2767211"/>
            <a:ext cx="12192000" cy="132360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8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39" name="Google Shape;1039;g39f8c020aa3_0_1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040" name="Google Shape;1040;g39f8c020aa3_0_1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041" name="Google Shape;1041;g39f8c020aa3_0_1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042" name="Google Shape;1042;g39f8c020aa3_0_1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3" name="Google Shape;1043;g39f8c020aa3_0_1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4" name="Google Shape;1044;g39f8c020aa3_0_1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5" name="Google Shape;1045;g39f8c020aa3_0_1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6" name="Google Shape;1046;g39f8c020aa3_0_1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7" name="Google Shape;1047;g39f8c020aa3_0_1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8" name="Google Shape;1048;g39f8c020aa3_0_1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9" name="Google Shape;1049;g39f8c020aa3_0_1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0" name="Google Shape;1050;g39f8c020aa3_0_1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1" name="Google Shape;1051;g39f8c020aa3_0_1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2" name="Google Shape;1052;g39f8c020aa3_0_1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3" name="Google Shape;1053;g39f8c020aa3_0_1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4" name="Google Shape;1054;g39f8c020aa3_0_1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5" name="Google Shape;1055;g39f8c020aa3_0_1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6" name="Google Shape;1056;g39f8c020aa3_0_1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7" name="Google Shape;1057;g39f8c020aa3_0_1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8" name="Google Shape;1058;g39f8c020aa3_0_1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9" name="Google Shape;1059;g39f8c020aa3_0_1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0" name="Google Shape;1060;g39f8c020aa3_0_1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1" name="Google Shape;1061;g39f8c020aa3_0_1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2" name="Google Shape;1062;g39f8c020aa3_0_1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3" name="Google Shape;1063;g39f8c020aa3_0_1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4" name="Google Shape;1064;g39f8c020aa3_0_1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5" name="Google Shape;1065;g39f8c020aa3_0_1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6" name="Google Shape;1066;g39f8c020aa3_0_1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7" name="Google Shape;1067;g39f8c020aa3_0_1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8" name="Google Shape;1068;g39f8c020aa3_0_1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9" name="Google Shape;1069;g39f8c020aa3_0_1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0" name="Google Shape;1070;g39f8c020aa3_0_1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1" name="Google Shape;1071;g39f8c020aa3_0_1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2" name="Google Shape;1072;g39f8c020aa3_0_1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3" name="Google Shape;1073;g39f8c020aa3_0_1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4" name="Google Shape;1074;g39f8c020aa3_0_1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5" name="Google Shape;1075;g39f8c020aa3_0_1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6" name="Google Shape;1076;g39f8c020aa3_0_1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077" name="Google Shape;1077;g39f8c020aa3_0_1"/>
          <p:cNvGrpSpPr/>
          <p:nvPr/>
        </p:nvGrpSpPr>
        <p:grpSpPr>
          <a:xfrm>
            <a:off x="451031" y="6490656"/>
            <a:ext cx="4247753" cy="273665"/>
            <a:chOff x="4366684" y="2926127"/>
            <a:chExt cx="3278346" cy="2572038"/>
          </a:xfrm>
        </p:grpSpPr>
        <p:sp>
          <p:nvSpPr>
            <p:cNvPr id="1078" name="Google Shape;1078;g39f8c020aa3_0_1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9" name="Google Shape;1079;g39f8c020aa3_0_1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0" name="Google Shape;1080;g39f8c020aa3_0_1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1" name="Google Shape;1081;g39f8c020aa3_0_1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2" name="Google Shape;1082;g39f8c020aa3_0_1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3" name="Google Shape;1083;g39f8c020aa3_0_1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4" name="Google Shape;1084;g39f8c020aa3_0_1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5" name="Google Shape;1085;g39f8c020aa3_0_1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6" name="Google Shape;1086;g39f8c020aa3_0_1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7" name="Google Shape;1087;g39f8c020aa3_0_1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8" name="Google Shape;1088;g39f8c020aa3_0_1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9" name="Google Shape;1089;g39f8c020aa3_0_1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0" name="Google Shape;1090;g39f8c020aa3_0_1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1" name="Google Shape;1091;g39f8c020aa3_0_1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2" name="Google Shape;1092;g39f8c020aa3_0_1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3" name="Google Shape;1093;g39f8c020aa3_0_1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4" name="Google Shape;1094;g39f8c020aa3_0_1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5" name="Google Shape;1095;g39f8c020aa3_0_1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6" name="Google Shape;1096;g39f8c020aa3_0_1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7" name="Google Shape;1097;g39f8c020aa3_0_1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8" name="Google Shape;1098;g39f8c020aa3_0_1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9" name="Google Shape;1099;g39f8c020aa3_0_1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0" name="Google Shape;1100;g39f8c020aa3_0_1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1" name="Google Shape;1101;g39f8c020aa3_0_1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2" name="Google Shape;1102;g39f8c020aa3_0_1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3" name="Google Shape;1103;g39f8c020aa3_0_1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4" name="Google Shape;1104;g39f8c020aa3_0_1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5" name="Google Shape;1105;g39f8c020aa3_0_1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6" name="Google Shape;1106;g39f8c020aa3_0_1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7" name="Google Shape;1107;g39f8c020aa3_0_1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8" name="Google Shape;1108;g39f8c020aa3_0_1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9" name="Google Shape;1109;g39f8c020aa3_0_1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0" name="Google Shape;1110;g39f8c020aa3_0_1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1" name="Google Shape;1111;g39f8c020aa3_0_1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2" name="Google Shape;1112;g39f8c020aa3_0_1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113" name="Google Shape;1113;g39f8c020aa3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521" y="190223"/>
            <a:ext cx="6879347" cy="9997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4" name="Google Shape;1114;g39f8c020aa3_0_1"/>
          <p:cNvGrpSpPr/>
          <p:nvPr/>
        </p:nvGrpSpPr>
        <p:grpSpPr>
          <a:xfrm>
            <a:off x="4815395" y="6382131"/>
            <a:ext cx="7369500" cy="465300"/>
            <a:chOff x="4817758" y="6382984"/>
            <a:chExt cx="7369500" cy="465300"/>
          </a:xfrm>
        </p:grpSpPr>
        <p:sp>
          <p:nvSpPr>
            <p:cNvPr id="1115" name="Google Shape;1115;g39f8c020aa3_0_1"/>
            <p:cNvSpPr/>
            <p:nvPr/>
          </p:nvSpPr>
          <p:spPr>
            <a:xfrm>
              <a:off x="4817758" y="6382984"/>
              <a:ext cx="7369500" cy="4653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16" name="Google Shape;1116;g39f8c020aa3_0_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73655" y="6397831"/>
              <a:ext cx="7281505" cy="417465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sp>
        <p:nvSpPr>
          <p:cNvPr id="1117" name="Google Shape;1117;g39f8c020aa3_0_1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